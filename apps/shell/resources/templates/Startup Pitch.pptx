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658368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D3EE"/>
                </a:solidFill>
                <a:latin typeface="Calibri"/>
              </a:rPr>
              <a:t>SEED ROUND /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98755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The operating system for modern teams.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160520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7D2FE"/>
                </a:solidFill>
                <a:latin typeface="Calibri"/>
              </a:rPr>
              <a:t>Northstar turns scattered work into one calm, AI-native workspace.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05332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8C93A8"/>
                </a:solidFill>
                <a:latin typeface="Calibri"/>
              </a:rPr>
              <a:t>PLOT DOCS SUITE  /  TEMPLATE LIBRARY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0533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93A8"/>
                </a:solidFill>
                <a:latin typeface="Calibri"/>
              </a:rPr>
              <a:t>PLOT DOCS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22D3EE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00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Georgia"/>
              </a:rPr>
              <a:t>Teams do not need more tabs. They need one place where work moves.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423160"/>
            <a:ext cx="3429000" cy="2331720"/>
          </a:xfrm>
          <a:prstGeom prst="roundRect">
            <a:avLst>
              <a:gd name="adj" fmla="val 8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423160"/>
            <a:ext cx="54864" cy="2331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6791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3580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Fragmented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47288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Five tools, three inboxes and a weekly meeting just to find the latest version.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2423160"/>
            <a:ext cx="3429000" cy="2331720"/>
          </a:xfrm>
          <a:prstGeom prst="roundRect">
            <a:avLst>
              <a:gd name="adj" fmla="val 8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9976" y="2423160"/>
            <a:ext cx="54864" cy="2331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6791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3580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3447288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Context switching costs each person nearly an hour a day.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3" y="2423160"/>
            <a:ext cx="3429000" cy="2331720"/>
          </a:xfrm>
          <a:prstGeom prst="roundRect">
            <a:avLst>
              <a:gd name="adj" fmla="val 8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3" y="2423160"/>
            <a:ext cx="54864" cy="2331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3" y="26791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3" y="303580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Opaque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3" y="3447288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Leaders cannot see where work is stuck until the deadline is already close.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2578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1">
                <a:solidFill>
                  <a:srgbClr val="22D3EE"/>
                </a:solidFill>
                <a:latin typeface="Calibri"/>
              </a:rPr>
              <a:t>The cost is not software. It is momentum.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93A8"/>
                </a:solidFill>
                <a:latin typeface="Calibri"/>
              </a:rPr>
              <a:t>PLOT DOCS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22D3EE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00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Georgia"/>
              </a:rPr>
              <a:t>One workspace. Every format. AI that knows the context.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86000"/>
            <a:ext cx="5120640" cy="3246120"/>
          </a:xfrm>
          <a:prstGeom prst="roundRect">
            <a:avLst>
              <a:gd name="adj" fmla="val 6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7860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Plot Docs Suite workspace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108960"/>
            <a:ext cx="43891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22D3EE"/>
                </a:solidFill>
                <a:latin typeface="Calibri"/>
              </a:rPr>
              <a:t>•  </a:t>
            </a:r>
            <a:r>
              <a:rPr sz="1300">
                <a:solidFill>
                  <a:srgbClr val="D7DDF0"/>
                </a:solidFill>
                <a:latin typeface="Calibri"/>
              </a:rPr>
              <a:t>Docs, sheets, slides, PDF and the web in one window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22D3EE"/>
                </a:solidFill>
                <a:latin typeface="Calibri"/>
              </a:rPr>
              <a:t>•  </a:t>
            </a:r>
            <a:r>
              <a:rPr sz="1300">
                <a:solidFill>
                  <a:srgbClr val="D7DDF0"/>
                </a:solidFill>
                <a:latin typeface="Calibri"/>
              </a:rPr>
              <a:t>AI drafting and review inside the file, not beside it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22D3EE"/>
                </a:solidFill>
                <a:latin typeface="Calibri"/>
              </a:rPr>
              <a:t>•  </a:t>
            </a:r>
            <a:r>
              <a:rPr sz="1300">
                <a:solidFill>
                  <a:srgbClr val="D7DDF0"/>
                </a:solidFill>
                <a:latin typeface="Calibri"/>
              </a:rPr>
              <a:t>Local-first files with cloud when you want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2286000"/>
            <a:ext cx="5458968" cy="3246120"/>
          </a:xfrm>
          <a:prstGeom prst="roundRect">
            <a:avLst>
              <a:gd name="adj" fmla="val 6000"/>
            </a:avLst>
          </a:prstGeom>
          <a:solidFill>
            <a:srgbClr val="111B36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5786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What changes for a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3108960"/>
            <a:ext cx="47548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8B5CF6"/>
                </a:solidFill>
                <a:latin typeface="Calibri"/>
              </a:rPr>
              <a:t>•  </a:t>
            </a:r>
            <a:r>
              <a:rPr sz="1300">
                <a:solidFill>
                  <a:srgbClr val="D7DDF0"/>
                </a:solidFill>
                <a:latin typeface="Calibri"/>
              </a:rPr>
              <a:t>A draft starts from a template, not a blank page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8B5CF6"/>
                </a:solidFill>
                <a:latin typeface="Calibri"/>
              </a:rPr>
              <a:t>•  </a:t>
            </a:r>
            <a:r>
              <a:rPr sz="1300">
                <a:solidFill>
                  <a:srgbClr val="D7DDF0"/>
                </a:solidFill>
                <a:latin typeface="Calibri"/>
              </a:rPr>
              <a:t>The assistant can edit the actual document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8B5CF6"/>
                </a:solidFill>
                <a:latin typeface="Calibri"/>
              </a:rPr>
              <a:t>•  </a:t>
            </a:r>
            <a:r>
              <a:rPr sz="1300">
                <a:solidFill>
                  <a:srgbClr val="D7DDF0"/>
                </a:solidFill>
                <a:latin typeface="Calibri"/>
              </a:rPr>
              <a:t>Every decision keeps its source and owner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93A8"/>
                </a:solidFill>
                <a:latin typeface="Calibri"/>
              </a:rPr>
              <a:t>PLOT DOCS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22D3EE"/>
                </a:solidFill>
                <a:latin typeface="Calibri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00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Georgia"/>
              </a:rPr>
              <a:t>A large, durable shift from suites to AI-native workspaces.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840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22D3EE"/>
                </a:solidFill>
                <a:latin typeface="Georgia"/>
              </a:rPr>
              <a:t>$84B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40156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EB8D0"/>
                </a:solidFill>
                <a:latin typeface="Calibri"/>
              </a:rPr>
              <a:t>productivity software market by 2029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233172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8B5CF6"/>
                </a:solidFill>
                <a:latin typeface="Georgia"/>
              </a:rPr>
              <a:t>18%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8032" y="3401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EB8D0"/>
                </a:solidFill>
                <a:latin typeface="Calibri"/>
              </a:rPr>
              <a:t>annual growth in AI-assisted knowledge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33172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34D399"/>
                </a:solidFill>
                <a:latin typeface="Georgia"/>
              </a:rPr>
              <a:t>3×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5672" y="3401568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EB8D0"/>
                </a:solidFill>
                <a:latin typeface="Calibri"/>
              </a:rPr>
              <a:t>faster first draft with in-file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0749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Our beachhead: 20–200 person teams that live in documents and decks.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93A8"/>
                </a:solidFill>
                <a:latin typeface="Calibri"/>
              </a:rPr>
              <a:t>PLOT DOCS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22D3EE"/>
                </a:solidFill>
                <a:latin typeface="Calibri"/>
              </a:rPr>
              <a:t>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00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Georgia"/>
              </a:rPr>
              <a:t>The first cohort is already moving faster.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468880"/>
            <a:ext cx="2487168" cy="2103120"/>
          </a:xfrm>
          <a:prstGeom prst="roundRect">
            <a:avLst>
              <a:gd name="adj" fmla="val 6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61488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22D3EE"/>
                </a:solidFill>
                <a:latin typeface="Georgia"/>
              </a:rPr>
              <a:t>1,240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weekly active teams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487168" cy="2103120"/>
          </a:xfrm>
          <a:prstGeom prst="roundRect">
            <a:avLst>
              <a:gd name="adj" fmla="val 6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2761488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22D3EE"/>
                </a:solidFill>
                <a:latin typeface="Georgia"/>
              </a:rPr>
              <a:t>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36576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week-four retention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1" y="2468880"/>
            <a:ext cx="2487168" cy="2103120"/>
          </a:xfrm>
          <a:prstGeom prst="roundRect">
            <a:avLst>
              <a:gd name="adj" fmla="val 6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3" y="2761488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22D3EE"/>
                </a:solidFill>
                <a:latin typeface="Georgia"/>
              </a:rPr>
              <a:t>4.8/5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3" y="36576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average customer rating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0264" y="2468880"/>
            <a:ext cx="2487168" cy="2103120"/>
          </a:xfrm>
          <a:prstGeom prst="roundRect">
            <a:avLst>
              <a:gd name="adj" fmla="val 6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26296" y="2761488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22D3EE"/>
                </a:solidFill>
                <a:latin typeface="Georgia"/>
              </a:rPr>
              <a:t>112%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6296" y="36576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net revenue retention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2120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Fastest-growing segments: product, design and professional services.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93A8"/>
                </a:solidFill>
                <a:latin typeface="Calibri"/>
              </a:rPr>
              <a:t>PLOT DOCS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22D3EE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00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Georgia"/>
              </a:rPr>
              <a:t>Raising $6M to make Plot Docs Suite the default workspace for 10,000 teams.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48840"/>
            <a:ext cx="3840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22D3EE"/>
                </a:solidFill>
                <a:latin typeface="Georgia"/>
              </a:rPr>
              <a:t>$6M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EB8D0"/>
                </a:solidFill>
                <a:latin typeface="Calibri"/>
              </a:rPr>
              <a:t>18-month runway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12140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2D3EE"/>
                </a:solidFill>
                <a:latin typeface="Calibri"/>
              </a:rPr>
              <a:t>•  </a:t>
            </a:r>
            <a:r>
              <a:rPr sz="1500">
                <a:solidFill>
                  <a:srgbClr val="D7DDF0"/>
                </a:solidFill>
                <a:latin typeface="Calibri"/>
              </a:rPr>
              <a:t>45% product and AI engineering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2D3EE"/>
                </a:solidFill>
                <a:latin typeface="Calibri"/>
              </a:rPr>
              <a:t>•  </a:t>
            </a:r>
            <a:r>
              <a:rPr sz="1500">
                <a:solidFill>
                  <a:srgbClr val="D7DDF0"/>
                </a:solidFill>
                <a:latin typeface="Calibri"/>
              </a:rPr>
              <a:t>30% go-to-market and partnerships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2D3EE"/>
                </a:solidFill>
                <a:latin typeface="Calibri"/>
              </a:rPr>
              <a:t>•  </a:t>
            </a:r>
            <a:r>
              <a:rPr sz="1500">
                <a:solidFill>
                  <a:srgbClr val="D7DDF0"/>
                </a:solidFill>
                <a:latin typeface="Calibri"/>
              </a:rPr>
              <a:t>25% trust, security and operations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72600" y="2240280"/>
            <a:ext cx="2103120" cy="141732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9488" y="2468880"/>
            <a:ext cx="16916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Let's build
the calm default.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9488" y="47548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D3EE"/>
                </a:solidFill>
                <a:latin typeface="Calibri"/>
              </a:rPr>
              <a:t>hello@plotxyz.ai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