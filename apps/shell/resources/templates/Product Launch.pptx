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658368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PRODUCT LAUNCH /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9875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Meet the workspace that keeps the whole team in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160520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7D2FE"/>
                </a:solidFill>
                <a:latin typeface="Calibri"/>
              </a:rPr>
              <a:t>A coordinated launch plan for the next chapter of Plot Docs.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0533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C93A8"/>
                </a:solidFill>
                <a:latin typeface="Calibri"/>
              </a:rPr>
              <a:t>PLOT DOCS  /  TEMPLATE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0533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The launch moment is a category shift, not a feature drop.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4884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Teams are ready to replace five disconnected tools with one calm workspace.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977639"/>
            <a:ext cx="3383280" cy="1234440"/>
          </a:xfrm>
          <a:prstGeom prst="roundRect">
            <a:avLst>
              <a:gd name="adj" fmla="val 6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18795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22D3EE"/>
                </a:solidFill>
                <a:latin typeface="Calibri"/>
              </a:rPr>
              <a:t>AWARENESS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498848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Reach 250k knowledge workers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5" y="3977639"/>
            <a:ext cx="3383280" cy="1234440"/>
          </a:xfrm>
          <a:prstGeom prst="roundRect">
            <a:avLst>
              <a:gd name="adj" fmla="val 6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1" y="418795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22D3EE"/>
                </a:solidFill>
                <a:latin typeface="Calibri"/>
              </a:rPr>
              <a:t>ACTIVATION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1" y="4498848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10k teams start a first 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3977639"/>
            <a:ext cx="3383280" cy="1234440"/>
          </a:xfrm>
          <a:prstGeom prst="roundRect">
            <a:avLst>
              <a:gd name="adj" fmla="val 6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418795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22D3EE"/>
                </a:solidFill>
                <a:latin typeface="Calibri"/>
              </a:rPr>
              <a:t>EXPANSION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498848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25% upgrade within 90 days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Everything a team needs, in one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6492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D3EE"/>
                </a:solidFill>
                <a:latin typeface="Calibri"/>
              </a:rPr>
              <a:t>•  </a:t>
            </a:r>
            <a:r>
              <a:rPr sz="1600">
                <a:solidFill>
                  <a:srgbClr val="D7DDF0"/>
                </a:solidFill>
                <a:latin typeface="Calibri"/>
              </a:rPr>
              <a:t>Docs, sheets, slides, PDF and the web: no format left behind.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D3EE"/>
                </a:solidFill>
                <a:latin typeface="Calibri"/>
              </a:rPr>
              <a:t>•  </a:t>
            </a:r>
            <a:r>
              <a:rPr sz="1600">
                <a:solidFill>
                  <a:srgbClr val="D7DDF0"/>
                </a:solidFill>
                <a:latin typeface="Calibri"/>
              </a:rPr>
              <a:t>In-file AI that can draft, review and edit the actual work.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D3EE"/>
                </a:solidFill>
                <a:latin typeface="Calibri"/>
              </a:rPr>
              <a:t>•  </a:t>
            </a:r>
            <a:r>
              <a:rPr sz="1600">
                <a:solidFill>
                  <a:srgbClr val="D7DDF0"/>
                </a:solidFill>
                <a:latin typeface="Calibri"/>
              </a:rPr>
              <a:t>A template gallery for the moments that matter.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D3EE"/>
                </a:solidFill>
                <a:latin typeface="Calibri"/>
              </a:rPr>
              <a:t>•  </a:t>
            </a:r>
            <a:r>
              <a:rPr sz="1600">
                <a:solidFill>
                  <a:srgbClr val="D7DDF0"/>
                </a:solidFill>
                <a:latin typeface="Calibri"/>
              </a:rPr>
              <a:t>Local-first files with cloud collaboration when you want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148840"/>
            <a:ext cx="3886200" cy="3337560"/>
          </a:xfrm>
          <a:prstGeom prst="roundRect">
            <a:avLst>
              <a:gd name="adj" fmla="val 6000"/>
            </a:avLst>
          </a:prstGeom>
          <a:solidFill>
            <a:srgbClr val="111B36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24688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One calm 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971800"/>
            <a:ext cx="3200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A midnight canvas, violet accents and just enough structure to keep the work moving.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A launch that compounds after week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286000"/>
            <a:ext cx="54864" cy="21488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420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986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Community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10128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Founder-led demos and a template challenge for operators.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22860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9976" y="2286000"/>
            <a:ext cx="54864" cy="21488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5420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986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Partners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310128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Co-marketing with five agencies and fractional teams.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22860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286000"/>
            <a:ext cx="54864" cy="21488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3" y="25420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28986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3" y="3310128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A free template library that becomes the top of the funnel.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749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1">
                <a:solidFill>
                  <a:srgbClr val="22D3EE"/>
                </a:solidFill>
                <a:latin typeface="Calibri"/>
              </a:rPr>
              <a:t>Every touchpoint ends in a file the customer can keep.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Six weeks from prep to compounding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2D3EE"/>
                </a:solidFill>
                <a:latin typeface="Calibri"/>
              </a:rP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Prep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EB8D0"/>
                </a:solidFill>
                <a:latin typeface="Calibri"/>
              </a:rPr>
              <a:t>Assets, docs, partner 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60520"/>
            <a:ext cx="233172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4160520"/>
            <a:ext cx="582930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2D3EE"/>
                </a:solidFill>
                <a:latin typeface="Calibri"/>
              </a:rPr>
              <a:t>WEEK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788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310128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EB8D0"/>
                </a:solidFill>
                <a:latin typeface="Calibri"/>
              </a:rPr>
              <a:t>Community preview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4160520"/>
            <a:ext cx="233172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4160520"/>
            <a:ext cx="1165860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2D3EE"/>
                </a:solidFill>
                <a:latin typeface="Calibri"/>
              </a:rPr>
              <a:t>WEEK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1" y="2788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Launch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310128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EB8D0"/>
                </a:solidFill>
                <a:latin typeface="Calibri"/>
              </a:rPr>
              <a:t>Product Hunt, press, demo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1" y="4160520"/>
            <a:ext cx="233172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1" y="4160520"/>
            <a:ext cx="1748789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0264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2D3EE"/>
                </a:solidFill>
                <a:latin typeface="Calibri"/>
              </a:rPr>
              <a:t>WEEK 4–6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2788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Compound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4" y="3310128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EB8D0"/>
                </a:solidFill>
                <a:latin typeface="Calibri"/>
              </a:rPr>
              <a:t>Templates, referrals, webinars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0264" y="4160520"/>
            <a:ext cx="233172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0264" y="4160520"/>
            <a:ext cx="2331720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8348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Launch is not the finish line. The library 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