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658368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QUARTERLY REVIEW / Q3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55648"/>
            <a:ext cx="98755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Georgia"/>
              </a:rPr>
              <a:t>Momentum, focus and the next constraint.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160520"/>
            <a:ext cx="8412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A clear look at what moved, what did not and what we do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C93A8"/>
                </a:solidFill>
                <a:latin typeface="Calibri"/>
              </a:rPr>
              <a:t>PLOT DOCS  /  TEMPLATE LIBRARY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0533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8C93A8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93A8"/>
                </a:solidFill>
                <a:latin typeface="Calibri"/>
              </a:rPr>
              <a:t>PLOT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2D3EE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8C93A8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78992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Georgia"/>
              </a:rPr>
              <a:t>A strong quarter with one clear bottleneck.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31720"/>
            <a:ext cx="3429000" cy="2514600"/>
          </a:xfrm>
          <a:prstGeom prst="roundRect">
            <a:avLst>
              <a:gd name="adj" fmla="val 8000"/>
            </a:avLst>
          </a:prstGeom>
          <a:solidFill>
            <a:srgbClr val="151B33"/>
          </a:solidFill>
          <a:ln w="12700">
            <a:solidFill>
              <a:srgbClr val="27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331720"/>
            <a:ext cx="54864" cy="25146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5877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44368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355848"/>
            <a:ext cx="2880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AEB8D0"/>
                </a:solidFill>
                <a:latin typeface="Calibri"/>
              </a:rPr>
              <a:t>Revenue up 18% quarter over quarter, led by mid-market expansion.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2331720"/>
            <a:ext cx="3429000" cy="2514600"/>
          </a:xfrm>
          <a:prstGeom prst="roundRect">
            <a:avLst>
              <a:gd name="adj" fmla="val 8000"/>
            </a:avLst>
          </a:prstGeom>
          <a:solidFill>
            <a:srgbClr val="151B33"/>
          </a:solidFill>
          <a:ln w="12700">
            <a:solidFill>
              <a:srgbClr val="27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9976" y="2331720"/>
            <a:ext cx="54864" cy="25146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25877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2944368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Efficiency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6" y="3355848"/>
            <a:ext cx="2880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AEB8D0"/>
                </a:solidFill>
                <a:latin typeface="Calibri"/>
              </a:rPr>
              <a:t>Gross margin improved 2.1 points after support automation.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2331720"/>
            <a:ext cx="3429000" cy="2514600"/>
          </a:xfrm>
          <a:prstGeom prst="roundRect">
            <a:avLst>
              <a:gd name="adj" fmla="val 8000"/>
            </a:avLst>
          </a:prstGeom>
          <a:solidFill>
            <a:srgbClr val="151B33"/>
          </a:solidFill>
          <a:ln w="12700">
            <a:solidFill>
              <a:srgbClr val="27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1583" y="2331720"/>
            <a:ext cx="54864" cy="2514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3" y="25877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3" y="2944368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Constraint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3" y="3355848"/>
            <a:ext cx="2880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AEB8D0"/>
                </a:solidFill>
                <a:latin typeface="Calibri"/>
              </a:rPr>
              <a:t>Enterprise pipeline coverage is 2.6× against a 3.1× target.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93A8"/>
                </a:solidFill>
                <a:latin typeface="Calibri"/>
              </a:rPr>
              <a:t>PLOT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2D3EE"/>
                </a:solidFill>
                <a:latin typeface="Calibri"/>
              </a:rPr>
              <a:t>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8C93A8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78992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Georgia"/>
              </a:rPr>
              <a:t>The numbers behind the headline.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EB8D0"/>
                </a:solidFill>
                <a:latin typeface="Calibri"/>
              </a:rP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2860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$4.82M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2860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</a:rPr>
              <a:t>+18.1%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2377440"/>
            <a:ext cx="3566160" cy="36576"/>
          </a:xfrm>
          <a:prstGeom prst="rect">
            <a:avLst/>
          </a:prstGeom>
          <a:solidFill>
            <a:srgbClr val="27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2377440"/>
            <a:ext cx="1783080" cy="3657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9923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EB8D0"/>
                </a:solidFill>
                <a:latin typeface="Calibri"/>
              </a:rPr>
              <a:t>Gross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99923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78.4%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99923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</a:rPr>
              <a:t>+2.1 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3090672"/>
            <a:ext cx="3566160" cy="36576"/>
          </a:xfrm>
          <a:prstGeom prst="rect">
            <a:avLst/>
          </a:prstGeom>
          <a:solidFill>
            <a:srgbClr val="27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79" y="3090672"/>
            <a:ext cx="2068372" cy="3657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712464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EB8D0"/>
                </a:solidFill>
                <a:latin typeface="Calibri"/>
              </a:rPr>
              <a:t>Net retention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712464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94%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3712464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</a:rPr>
              <a:t>+1 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3803904"/>
            <a:ext cx="3566160" cy="36576"/>
          </a:xfrm>
          <a:prstGeom prst="rect">
            <a:avLst/>
          </a:prstGeom>
          <a:solidFill>
            <a:srgbClr val="27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3803904"/>
            <a:ext cx="2353665" cy="3657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425696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EB8D0"/>
                </a:solidFill>
                <a:latin typeface="Calibri"/>
              </a:rPr>
              <a:t>New logos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4425696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37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4425696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</a:rPr>
              <a:t>+6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4517136"/>
            <a:ext cx="3566160" cy="36576"/>
          </a:xfrm>
          <a:prstGeom prst="rect">
            <a:avLst/>
          </a:prstGeom>
          <a:solidFill>
            <a:srgbClr val="27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98079" y="4517136"/>
            <a:ext cx="2638958" cy="3657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13892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EB8D0"/>
                </a:solidFill>
                <a:latin typeface="Calibri"/>
              </a:rPr>
              <a:t>Pipeline coverage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513892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2.6×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513892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7185"/>
                </a:solidFill>
                <a:latin typeface="Calibri"/>
              </a:rPr>
              <a:t>−0.5×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9" y="5230368"/>
            <a:ext cx="3566160" cy="36576"/>
          </a:xfrm>
          <a:prstGeom prst="rect">
            <a:avLst/>
          </a:prstGeom>
          <a:solidFill>
            <a:srgbClr val="27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98079" y="5230368"/>
            <a:ext cx="2924251" cy="3657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93A8"/>
                </a:solidFill>
                <a:latin typeface="Calibri"/>
              </a:rPr>
              <a:t>PLOT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2D3EE"/>
                </a:solidFill>
                <a:latin typeface="Calibri"/>
              </a:rPr>
              <a:t>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8C93A8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78992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Georgia"/>
              </a:rPr>
              <a:t>Three things that worked.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31720"/>
            <a:ext cx="5285232" cy="1508760"/>
          </a:xfrm>
          <a:prstGeom prst="roundRect">
            <a:avLst>
              <a:gd name="adj" fmla="val 8000"/>
            </a:avLst>
          </a:prstGeom>
          <a:solidFill>
            <a:srgbClr val="151B33"/>
          </a:solidFill>
          <a:ln w="12700">
            <a:solidFill>
              <a:srgbClr val="27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331720"/>
            <a:ext cx="54864" cy="15087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5877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44368"/>
            <a:ext cx="47365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Mid-market playbook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355848"/>
            <a:ext cx="4736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AEB8D0"/>
                </a:solidFill>
                <a:latin typeface="Calibri"/>
              </a:rPr>
              <a:t>Nine days off the sales cycle and a repeatable first-call narrative.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2331720"/>
            <a:ext cx="5285232" cy="1508760"/>
          </a:xfrm>
          <a:prstGeom prst="roundRect">
            <a:avLst>
              <a:gd name="adj" fmla="val 8000"/>
            </a:avLst>
          </a:prstGeom>
          <a:solidFill>
            <a:srgbClr val="151B33"/>
          </a:solidFill>
          <a:ln w="12700">
            <a:solidFill>
              <a:srgbClr val="27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2331720"/>
            <a:ext cx="54864" cy="15087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5877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944368"/>
            <a:ext cx="47365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Support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3355848"/>
            <a:ext cx="4736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AEB8D0"/>
                </a:solidFill>
                <a:latin typeface="Calibri"/>
              </a:rPr>
              <a:t>32% of tier-one tickets resolved without a human handoff.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160520"/>
            <a:ext cx="5285232" cy="1508760"/>
          </a:xfrm>
          <a:prstGeom prst="roundRect">
            <a:avLst>
              <a:gd name="adj" fmla="val 8000"/>
            </a:avLst>
          </a:prstGeom>
          <a:solidFill>
            <a:srgbClr val="151B33"/>
          </a:solidFill>
          <a:ln w="12700">
            <a:solidFill>
              <a:srgbClr val="27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160520"/>
            <a:ext cx="54864" cy="15087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4165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773168"/>
            <a:ext cx="47365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Onboarding checklist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184648"/>
            <a:ext cx="4736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AEB8D0"/>
                </a:solidFill>
                <a:latin typeface="Calibri"/>
              </a:rPr>
              <a:t>Week-one activation up six points after moving the checklist earlier.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93A8"/>
                </a:solidFill>
                <a:latin typeface="Calibri"/>
              </a:rPr>
              <a:t>PLOT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2D3EE"/>
                </a:solidFill>
                <a:latin typeface="Calibri"/>
              </a:rPr>
              <a:t>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8C93A8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78992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Georgia"/>
              </a:rPr>
              <a:t>What we are doing next quarter.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996696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2D3EE"/>
                </a:solidFill>
                <a:latin typeface="Calibri"/>
              </a:rPr>
              <a:t>•  </a:t>
            </a:r>
            <a:r>
              <a:rPr sz="1700">
                <a:solidFill>
                  <a:srgbClr val="D7DDF0"/>
                </a:solidFill>
                <a:latin typeface="Calibri"/>
              </a:rPr>
              <a:t>Add two enterprise-qualified pipeline sources.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D3EE"/>
                </a:solidFill>
                <a:latin typeface="Calibri"/>
              </a:rPr>
              <a:t>•  </a:t>
            </a:r>
            <a:r>
              <a:rPr sz="1700">
                <a:solidFill>
                  <a:srgbClr val="D7DDF0"/>
                </a:solidFill>
                <a:latin typeface="Calibri"/>
              </a:rPr>
              <a:t>Automate the support-to-success handoff.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D3EE"/>
                </a:solidFill>
                <a:latin typeface="Calibri"/>
              </a:rPr>
              <a:t>•  </a:t>
            </a:r>
            <a:r>
              <a:rPr sz="1700">
                <a:solidFill>
                  <a:srgbClr val="D7DDF0"/>
                </a:solidFill>
                <a:latin typeface="Calibri"/>
              </a:rPr>
              <a:t>Document the top five support playbooks.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D3EE"/>
                </a:solidFill>
                <a:latin typeface="Calibri"/>
              </a:rPr>
              <a:t>•  </a:t>
            </a:r>
            <a:r>
              <a:rPr sz="1700">
                <a:solidFill>
                  <a:srgbClr val="D7DDF0"/>
                </a:solidFill>
                <a:latin typeface="Calibri"/>
              </a:rPr>
              <a:t>Keep the mid-market playbook and measure the lift.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16636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1">
                <a:solidFill>
                  <a:srgbClr val="22D3EE"/>
                </a:solidFill>
                <a:latin typeface="Calibri"/>
              </a:rPr>
              <a:t>The goal is not more activity. It is fewer, better-sourced conversations.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